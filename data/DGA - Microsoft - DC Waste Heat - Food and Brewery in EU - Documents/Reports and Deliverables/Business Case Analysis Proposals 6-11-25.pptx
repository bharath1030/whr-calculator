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modernComment_101_E2309169.xml" ContentType="application/vnd.ms-powerpoint.comments+xml"/>
  <Override PartName="/ppt/comments/modernComment_10B_7947FA3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270" r:id="rId6"/>
    <p:sldId id="257" r:id="rId7"/>
    <p:sldId id="267" r:id="rId8"/>
    <p:sldId id="266" r:id="rId9"/>
    <p:sldId id="268" r:id="rId10"/>
    <p:sldId id="269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D8CE10-F5DE-AB63-4AE5-FF3C18345192}" name="Bharath Ramakrishnan" initials="BR" userId="S::bhramak@microsoft.com::47c7f587-18ac-4c2f-8fc5-62e6db2fd9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35" autoAdjust="0"/>
    <p:restoredTop sz="94612"/>
  </p:normalViewPr>
  <p:slideViewPr>
    <p:cSldViewPr snapToGrid="0">
      <p:cViewPr varScale="1">
        <p:scale>
          <a:sx n="114" d="100"/>
          <a:sy n="114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omments/modernComment_10B_7947FA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C68B93-EB16-46BA-86A6-FA74306A9286}" authorId="{56D8CE10-F5DE-AB63-4AE5-FF3C18345192}" created="2025-06-18T00:25:21.8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34760240" sldId="267"/>
      <ac:spMk id="3" creationId="{15BCA975-0A47-0A22-D0E2-449628FA88EF}"/>
      <ac:txMk cp="134" len="96">
        <ac:context len="231" hash="3618123432"/>
      </ac:txMk>
    </ac:txMkLst>
    <p188:pos x="1016000" y="4590814"/>
    <p188:txBody>
      <a:bodyPr/>
      <a:lstStyle/>
      <a:p>
        <a:r>
          <a:rPr lang="en-US"/>
          <a:t>yes please</a:t>
        </a:r>
      </a:p>
    </p188:txBody>
  </p188:cm>
</p188:cmLst>
</file>

<file path=ppt/comments/modernComment_101_E23091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BB75B6-E6BF-4C57-8BC2-1AABC561D713}" authorId="{56D8CE10-F5DE-AB63-4AE5-FF3C18345192}" created="2025-06-18T00:25:07.3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94833769" sldId="257"/>
      <ac:spMk id="3" creationId="{160D2C4A-0B62-59BF-F595-B10B05B06001}"/>
    </ac:deMkLst>
    <p188:txBody>
      <a:bodyPr/>
      <a:lstStyle/>
      <a:p>
        <a:r>
          <a:rPr lang="en-US"/>
          <a:t>Scenario 1: Assume 1 MW of heat coming out of data center at 30C, and getting back in the data center at 18 C.
Scenario 2: Consider 1 MW of heat coming out of data center at 45C and getting back in the data center at 33C.
Extend the DC capacity to 10 MW, 20MW and 100 MW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0D9C4-D61B-426C-A359-330BE39ECF6D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C962A-EA85-4E15-A74B-A97096B6AF7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022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405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830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47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3923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71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7252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50682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924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427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635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6230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3765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5285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6857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4835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117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F8EF4-9741-4786-9C55-79AFC4734665}" type="datetimeFigureOut">
              <a:rPr lang="sv-SE" smtClean="0"/>
              <a:t>2025-10-15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8AF2FFE-215C-40F5-8868-5C9304AFCE4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193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E2309169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7947FA30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3301-2D61-0279-FA3A-6322AAE89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5975" y="2404534"/>
            <a:ext cx="8348028" cy="1646302"/>
          </a:xfrm>
        </p:spPr>
        <p:txBody>
          <a:bodyPr/>
          <a:lstStyle/>
          <a:p>
            <a:r>
              <a:rPr lang="en-US" sz="4800" dirty="0"/>
              <a:t>Business Case Analysis (BCA):</a:t>
            </a:r>
            <a:br>
              <a:rPr lang="en-US" sz="4800" dirty="0"/>
            </a:br>
            <a:r>
              <a:rPr lang="en-US" sz="4800" dirty="0"/>
              <a:t>Questions and Discussion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D058F1-8DA4-5C1F-C65F-6B59523F4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Weekly Meeting: Wednesday, June 11</a:t>
            </a:r>
          </a:p>
        </p:txBody>
      </p:sp>
    </p:spTree>
    <p:extLst>
      <p:ext uri="{BB962C8B-B14F-4D97-AF65-F5344CB8AC3E}">
        <p14:creationId xmlns:p14="http://schemas.microsoft.com/office/powerpoint/2010/main" val="2786760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8B401-5D81-1B75-605F-685D502A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E8AA8B-5811-6344-5E5C-7C31A25D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3AC65-BF07-8B01-7AED-51B45ABA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Agenda:</a:t>
            </a:r>
            <a:endParaRPr lang="sv-SE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D1A793C-322D-9C7A-4AAD-A6091AFA9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290E-6DF6-A1F6-5897-E5527D527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554827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Discuss Plans for BCA:</a:t>
            </a:r>
          </a:p>
          <a:p>
            <a:pPr lvl="1"/>
            <a:r>
              <a:rPr lang="en-US" sz="1800" dirty="0"/>
              <a:t>Number of Scenarios &amp; Basic Assumptions</a:t>
            </a:r>
          </a:p>
          <a:p>
            <a:pPr lvl="1"/>
            <a:r>
              <a:rPr lang="en-US" sz="1800" dirty="0"/>
              <a:t>Countries</a:t>
            </a:r>
          </a:p>
          <a:p>
            <a:pPr lvl="1"/>
            <a:r>
              <a:rPr lang="en-US" sz="1800" dirty="0"/>
              <a:t>End Use Type</a:t>
            </a:r>
          </a:p>
          <a:p>
            <a:pPr lvl="1"/>
            <a:r>
              <a:rPr lang="en-US" sz="1800" dirty="0"/>
              <a:t>Heat Range Considerations</a:t>
            </a:r>
          </a:p>
          <a:p>
            <a:pPr lvl="1"/>
            <a:r>
              <a:rPr lang="en-US" sz="1800" dirty="0"/>
              <a:t>Capex and </a:t>
            </a:r>
            <a:r>
              <a:rPr lang="en-US" sz="1800" dirty="0" err="1"/>
              <a:t>Opex</a:t>
            </a:r>
            <a:r>
              <a:rPr lang="en-US" sz="1800" dirty="0"/>
              <a:t> Considerations</a:t>
            </a:r>
          </a:p>
          <a:p>
            <a:r>
              <a:rPr lang="en-US" sz="2000" dirty="0"/>
              <a:t>Next Steps on BCA</a:t>
            </a:r>
            <a:endParaRPr lang="en-US" sz="1800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28BFA6C-FCE7-2F2E-5A2C-2AB704B6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6398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D11C4-04FE-BB15-FCA4-96A1B2C7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Initial Assumptions and Questions</a:t>
            </a:r>
            <a:endParaRPr lang="sv-SE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D2C4A-0B62-59BF-F595-B10B05B0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554827"/>
            <a:ext cx="8596668" cy="3880773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Number of scenarios:</a:t>
            </a:r>
          </a:p>
          <a:p>
            <a:pPr lvl="1"/>
            <a:r>
              <a:rPr lang="en-US" sz="1800" i="1" dirty="0"/>
              <a:t>Proposal: </a:t>
            </a:r>
            <a:r>
              <a:rPr lang="en-US" sz="1800" dirty="0"/>
              <a:t>Analyze 4 to 5 cases with different assumptions &amp; attributes</a:t>
            </a:r>
          </a:p>
          <a:p>
            <a:pPr marL="0" lvl="0" indent="0">
              <a:buNone/>
            </a:pPr>
            <a:endParaRPr lang="en-US" sz="2000" dirty="0"/>
          </a:p>
          <a:p>
            <a:pPr lvl="0"/>
            <a:r>
              <a:rPr lang="en-US" sz="2000" b="1" dirty="0"/>
              <a:t>Basic assumptions:</a:t>
            </a:r>
          </a:p>
          <a:p>
            <a:pPr lvl="1"/>
            <a:r>
              <a:rPr lang="en-US" sz="1800" i="1" dirty="0"/>
              <a:t>Proposal: </a:t>
            </a:r>
            <a:r>
              <a:rPr lang="en-US" sz="1800" dirty="0"/>
              <a:t>Examine two sizes of data center, 20 MW and 100 MW</a:t>
            </a:r>
          </a:p>
          <a:p>
            <a:pPr lvl="1"/>
            <a:r>
              <a:rPr lang="en-US" sz="1800" i="1" dirty="0"/>
              <a:t>Question: </a:t>
            </a:r>
            <a:r>
              <a:rPr lang="en-US" sz="1800" dirty="0"/>
              <a:t>What volume of heat (flow rate/second) would a data center of various sizes produce?</a:t>
            </a:r>
          </a:p>
          <a:p>
            <a:endParaRPr lang="sv-SE" sz="2000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948337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08E0A-445B-1D7B-0F02-0695E657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2993D5-AE48-CB62-AED5-AD385F8C1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95367-60D7-DB62-3639-A04F49E6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noProof="0" dirty="0"/>
              <a:t>Countries</a:t>
            </a:r>
            <a:endParaRPr lang="sv-SE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C2A5B21-EC99-3CCE-D979-5A5E8B636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A975-0A47-0A22-D0E2-449628FA8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508425"/>
            <a:ext cx="10044412" cy="5009549"/>
          </a:xfrm>
        </p:spPr>
        <p:txBody>
          <a:bodyPr>
            <a:normAutofit/>
          </a:bodyPr>
          <a:lstStyle/>
          <a:p>
            <a:pPr lvl="0"/>
            <a:r>
              <a:rPr lang="en-US" noProof="0" dirty="0"/>
              <a:t>Our starting assumption is that the BCA will consider at least the following four countries:</a:t>
            </a:r>
          </a:p>
          <a:p>
            <a:pPr lvl="1"/>
            <a:r>
              <a:rPr lang="en-US" noProof="0" dirty="0"/>
              <a:t>Germany</a:t>
            </a:r>
          </a:p>
          <a:p>
            <a:pPr lvl="1"/>
            <a:r>
              <a:rPr lang="en-US" noProof="0" dirty="0"/>
              <a:t>Sweden</a:t>
            </a:r>
          </a:p>
          <a:p>
            <a:pPr lvl="1"/>
            <a:r>
              <a:rPr lang="en-US" noProof="0" dirty="0"/>
              <a:t>Netherlands</a:t>
            </a:r>
          </a:p>
          <a:p>
            <a:pPr lvl="1"/>
            <a:r>
              <a:rPr lang="en-US" noProof="0" dirty="0"/>
              <a:t>Ireland</a:t>
            </a:r>
          </a:p>
          <a:p>
            <a:pPr lvl="1"/>
            <a:endParaRPr lang="en-US" noProof="0" dirty="0"/>
          </a:p>
          <a:p>
            <a:pPr marL="457200" lvl="1" indent="0">
              <a:buNone/>
            </a:pPr>
            <a:endParaRPr lang="en-US" noProof="0" dirty="0"/>
          </a:p>
          <a:p>
            <a:pPr marL="457200" lvl="1" indent="0">
              <a:buNone/>
            </a:pPr>
            <a:endParaRPr lang="en-US" noProof="0" dirty="0"/>
          </a:p>
          <a:p>
            <a:pPr marL="457200" lvl="1" indent="0">
              <a:buNone/>
            </a:pPr>
            <a:endParaRPr lang="en-US" noProof="0" dirty="0"/>
          </a:p>
          <a:p>
            <a:pPr marL="457200" lvl="1" indent="0">
              <a:buNone/>
            </a:pPr>
            <a:endParaRPr lang="en-US" noProof="0" dirty="0"/>
          </a:p>
          <a:p>
            <a:pPr marL="457200" lvl="1" indent="0">
              <a:buNone/>
            </a:pPr>
            <a:endParaRPr lang="en-US" noProof="0" dirty="0"/>
          </a:p>
          <a:p>
            <a:r>
              <a:rPr lang="en-US" i="1" noProof="0" dirty="0"/>
              <a:t>Question: </a:t>
            </a:r>
            <a:r>
              <a:rPr lang="en-US" noProof="0" dirty="0"/>
              <a:t>Should we add a southern country with a Microsoft data center, such as Spain or Italy?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C06449F-00A4-A645-B5F3-99DA3F0E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9C02A16-C04B-9567-615E-66C252EA2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602757"/>
              </p:ext>
            </p:extLst>
          </p:nvPr>
        </p:nvGraphicFramePr>
        <p:xfrm>
          <a:off x="1558726" y="3495375"/>
          <a:ext cx="907454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730">
                  <a:extLst>
                    <a:ext uri="{9D8B030D-6E8A-4147-A177-3AD203B41FA5}">
                      <a16:colId xmlns:a16="http://schemas.microsoft.com/office/drawing/2014/main" val="518552229"/>
                    </a:ext>
                  </a:extLst>
                </a:gridCol>
                <a:gridCol w="1695797">
                  <a:extLst>
                    <a:ext uri="{9D8B030D-6E8A-4147-A177-3AD203B41FA5}">
                      <a16:colId xmlns:a16="http://schemas.microsoft.com/office/drawing/2014/main" val="596138815"/>
                    </a:ext>
                  </a:extLst>
                </a:gridCol>
                <a:gridCol w="1695796">
                  <a:extLst>
                    <a:ext uri="{9D8B030D-6E8A-4147-A177-3AD203B41FA5}">
                      <a16:colId xmlns:a16="http://schemas.microsoft.com/office/drawing/2014/main" val="3315800373"/>
                    </a:ext>
                  </a:extLst>
                </a:gridCol>
                <a:gridCol w="4067224">
                  <a:extLst>
                    <a:ext uri="{9D8B030D-6E8A-4147-A177-3AD203B41FA5}">
                      <a16:colId xmlns:a16="http://schemas.microsoft.com/office/drawing/2014/main" val="811731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DC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Relevant Considerations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31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German Energy Efficiency 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04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High/low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Not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Renewable energy and cold climate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00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Extreme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Strained power grid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Ireland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High/medium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Not 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Strained power grid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78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7602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FD9F9-76CE-C73B-168B-944B5225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B99A22-32F0-36C6-2121-C9966620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15DEB-D3D3-9607-72BC-3D05161F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49" y="578084"/>
            <a:ext cx="8596668" cy="1320800"/>
          </a:xfrm>
        </p:spPr>
        <p:txBody>
          <a:bodyPr>
            <a:normAutofit/>
          </a:bodyPr>
          <a:lstStyle/>
          <a:p>
            <a:r>
              <a:rPr lang="sv-SE" dirty="0"/>
              <a:t>End User Type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F6EE07A-61E3-D495-7602-E79EDA4E5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3C24-383F-2B19-2155-94A90E378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049" y="1451500"/>
            <a:ext cx="10932155" cy="426857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i="1" dirty="0"/>
              <a:t>Proposal: </a:t>
            </a:r>
            <a:r>
              <a:rPr lang="en-US" dirty="0"/>
              <a:t>Analyze 4-5 different categories that encompass a variety of:</a:t>
            </a:r>
          </a:p>
          <a:p>
            <a:r>
              <a:rPr lang="en-US" dirty="0"/>
              <a:t>Temperature outputs</a:t>
            </a:r>
          </a:p>
          <a:p>
            <a:r>
              <a:rPr lang="en-US" dirty="0"/>
              <a:t>Heat needs</a:t>
            </a:r>
          </a:p>
          <a:p>
            <a:r>
              <a:rPr lang="en-US" dirty="0"/>
              <a:t>Levels of technical complexity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i="1" dirty="0"/>
          </a:p>
          <a:p>
            <a:endParaRPr lang="en-US" dirty="0"/>
          </a:p>
          <a:p>
            <a:pPr marL="0" lvl="0" indent="0">
              <a:buNone/>
            </a:pPr>
            <a:endParaRPr lang="en-US" i="1" dirty="0"/>
          </a:p>
          <a:p>
            <a:pPr marL="0" lvl="0" indent="0">
              <a:buNone/>
            </a:pPr>
            <a:endParaRPr lang="en-US" i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5C84EA7-9693-3999-E532-156246EA3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8C99B6-E679-5746-5374-EDD58021E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02971"/>
              </p:ext>
            </p:extLst>
          </p:nvPr>
        </p:nvGraphicFramePr>
        <p:xfrm>
          <a:off x="1088049" y="3350384"/>
          <a:ext cx="9360644" cy="247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300">
                  <a:extLst>
                    <a:ext uri="{9D8B030D-6E8A-4147-A177-3AD203B41FA5}">
                      <a16:colId xmlns:a16="http://schemas.microsoft.com/office/drawing/2014/main" val="518552229"/>
                    </a:ext>
                  </a:extLst>
                </a:gridCol>
                <a:gridCol w="3181344">
                  <a:extLst>
                    <a:ext uri="{9D8B030D-6E8A-4147-A177-3AD203B41FA5}">
                      <a16:colId xmlns:a16="http://schemas.microsoft.com/office/drawing/2014/main" val="811731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Relevant Considerations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1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Food pasteurization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Higher temperature needs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04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Food dehydration/commodity drying (e.g., fruit, vegetables)</a:t>
                      </a:r>
                    </a:p>
                    <a:p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temperature needs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endParaRPr lang="en-US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00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Beverage pasteurization (e.g. breweries)</a:t>
                      </a:r>
                    </a:p>
                    <a:p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Higher temperature needs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5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Greenhouses or fish/shellfish farming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Lower temperature needs; less technically complicated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78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37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D68DE-E25C-A182-D705-AB4E435A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347273-098B-B2D1-E3C7-DA25FBC8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DF353-409F-1BA9-550C-16B284AC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noProof="0" dirty="0"/>
              <a:t>Heat Range Considerations</a:t>
            </a:r>
            <a:endParaRPr lang="sv-SE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56E15C-B25D-B39C-EFB3-092EF0993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5064CA1-935E-6EBF-38E4-688D25588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D52F66-5FAD-5F91-2695-E2AD962C4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458392"/>
            <a:ext cx="9616149" cy="4790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Heat Temperatures:</a:t>
            </a:r>
          </a:p>
          <a:p>
            <a:r>
              <a:rPr lang="en-US" i="1" dirty="0"/>
              <a:t>Proposal: </a:t>
            </a:r>
            <a:r>
              <a:rPr lang="en-US" dirty="0"/>
              <a:t>Per our previous call, we plan to consider:</a:t>
            </a:r>
          </a:p>
          <a:p>
            <a:pPr lvl="1"/>
            <a:r>
              <a:rPr lang="en-US" sz="1800" dirty="0"/>
              <a:t>Current Microsoft data center heat output — temperature ranges of 20-45 degrees C</a:t>
            </a:r>
          </a:p>
          <a:p>
            <a:pPr lvl="1"/>
            <a:r>
              <a:rPr lang="en-US" sz="1800" dirty="0"/>
              <a:t>Future scenario — 65+ degrees C (we will make clear this is </a:t>
            </a:r>
            <a:r>
              <a:rPr lang="en-US" sz="1800" i="1" dirty="0"/>
              <a:t>not </a:t>
            </a:r>
            <a:r>
              <a:rPr lang="en-US" sz="1800" dirty="0"/>
              <a:t>Microsoft’s current output)</a:t>
            </a:r>
          </a:p>
          <a:p>
            <a:pPr marL="57150" indent="0">
              <a:buNone/>
            </a:pPr>
            <a:r>
              <a:rPr lang="en-US" b="1" dirty="0"/>
              <a:t>Heat Pumps:</a:t>
            </a:r>
          </a:p>
          <a:p>
            <a:pPr indent="-285750"/>
            <a:r>
              <a:rPr lang="en-US" i="1" dirty="0"/>
              <a:t>Proposal: </a:t>
            </a:r>
            <a:r>
              <a:rPr lang="en-US" dirty="0"/>
              <a:t>Per our previous call, we assume the offtaker will bear the cost of lifting temperatures with a heat pump.</a:t>
            </a:r>
          </a:p>
          <a:p>
            <a:pPr lvl="1"/>
            <a:r>
              <a:rPr lang="en-US" sz="1800" dirty="0"/>
              <a:t>We may consider two scenarios: (1) where the F&amp;B facility has to lift the Microsoft temp from 30 to 65 degrees; (2) where Microsoft can provide 65-degree heat (in the future)</a:t>
            </a:r>
          </a:p>
          <a:p>
            <a:pPr lvl="1"/>
            <a:r>
              <a:rPr lang="en-US" sz="1800" dirty="0"/>
              <a:t>Result will be to say “adding a heat pump will cost $X-Y, and will make it more/less likely that you will be able to find an offtaker for your heat”</a:t>
            </a:r>
          </a:p>
        </p:txBody>
      </p:sp>
    </p:spTree>
    <p:extLst>
      <p:ext uri="{BB962C8B-B14F-4D97-AF65-F5344CB8AC3E}">
        <p14:creationId xmlns:p14="http://schemas.microsoft.com/office/powerpoint/2010/main" val="187384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9772C-DA48-DF79-539A-3A4A206C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9CBB3F-C9AE-5EF7-43DE-7A0867DA2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DBDEF-0A1C-64A7-080F-B1F41074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10512134" cy="1320800"/>
          </a:xfrm>
        </p:spPr>
        <p:txBody>
          <a:bodyPr>
            <a:normAutofit/>
          </a:bodyPr>
          <a:lstStyle/>
          <a:p>
            <a:r>
              <a:rPr lang="en-US" noProof="0" dirty="0"/>
              <a:t>Capex and </a:t>
            </a:r>
            <a:r>
              <a:rPr lang="en-US" noProof="0" dirty="0" err="1"/>
              <a:t>Opex</a:t>
            </a:r>
            <a:r>
              <a:rPr lang="en-US" noProof="0" dirty="0"/>
              <a:t> Considerations</a:t>
            </a:r>
            <a:endParaRPr lang="sv-SE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496B79E-EE20-1066-76B6-291D6701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31EF96F-01EA-E20B-3CC3-1843F7DCA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1E97F8-2A77-C2C9-5DAD-A412C565F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1" y="1543676"/>
            <a:ext cx="9795416" cy="4456229"/>
          </a:xfrm>
        </p:spPr>
        <p:txBody>
          <a:bodyPr>
            <a:normAutofit/>
          </a:bodyPr>
          <a:lstStyle/>
          <a:p>
            <a:r>
              <a:rPr lang="en-US" i="1" dirty="0"/>
              <a:t>Proposal: </a:t>
            </a:r>
            <a:r>
              <a:rPr lang="en-US" dirty="0"/>
              <a:t>We will compare costs vs. savings in three areas:</a:t>
            </a:r>
          </a:p>
          <a:p>
            <a:pPr lvl="1"/>
            <a:r>
              <a:rPr lang="en-US" sz="1800" dirty="0"/>
              <a:t>At the data center</a:t>
            </a:r>
          </a:p>
          <a:p>
            <a:pPr lvl="1"/>
            <a:r>
              <a:rPr lang="en-US" sz="1800" dirty="0"/>
              <a:t>In the piping to connect the data center with an </a:t>
            </a:r>
            <a:r>
              <a:rPr lang="en-US" sz="1800" dirty="0" err="1"/>
              <a:t>offtaker</a:t>
            </a:r>
            <a:endParaRPr lang="en-US" sz="1800" dirty="0"/>
          </a:p>
          <a:p>
            <a:pPr lvl="1"/>
            <a:r>
              <a:rPr lang="en-US" sz="1800" dirty="0"/>
              <a:t>At the </a:t>
            </a:r>
            <a:r>
              <a:rPr lang="en-US" sz="1800" dirty="0" err="1"/>
              <a:t>offtaker</a:t>
            </a: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i="1" dirty="0"/>
              <a:t>Proposal: </a:t>
            </a:r>
            <a:r>
              <a:rPr lang="en-US" dirty="0"/>
              <a:t>To estimate savings, we will analyze power savings at the data centers and natural gas savings at the </a:t>
            </a:r>
            <a:r>
              <a:rPr lang="en-US" dirty="0" err="1"/>
              <a:t>offtakers</a:t>
            </a:r>
            <a:r>
              <a:rPr lang="en-US" dirty="0"/>
              <a:t>. We will make assumptions about the following:</a:t>
            </a:r>
          </a:p>
          <a:p>
            <a:pPr lvl="1"/>
            <a:r>
              <a:rPr lang="en-US" sz="1800" dirty="0"/>
              <a:t>Proximity for piping costs</a:t>
            </a:r>
          </a:p>
          <a:p>
            <a:pPr lvl="1"/>
            <a:r>
              <a:rPr lang="en-US" sz="1800" dirty="0"/>
              <a:t>Cost of heat (for the data center and the offtaker)</a:t>
            </a:r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i="1" dirty="0"/>
              <a:t>(Note – we plan to discuss these assumptions in more depth next week)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542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85D73-3911-B4FF-9058-C19DAE81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9F5A77-C4AC-703C-9E4F-BEA78FBC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52F38-7187-AF5F-F2C8-B0B76D82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531318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Next Steps to begin BCA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BB06206-9E57-F6B5-3493-F707EE5F1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6BB2-8C19-EF87-2FE9-225DAFE73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451115"/>
            <a:ext cx="10018439" cy="127045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</a:pPr>
            <a:r>
              <a:rPr lang="en-US" sz="1600" dirty="0"/>
              <a:t>Step 1: Finalize proximity analysis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Step 2: Begin investigating other dimensions of heat recovery matters (e.g., heat needs, legislation, etc.)</a:t>
            </a:r>
          </a:p>
          <a:p>
            <a:r>
              <a:rPr lang="en-US" sz="1600" dirty="0"/>
              <a:t>Step 3: In order to map current trends within data center heat reuse (DC HR), meet with HR leaders such as the following:</a:t>
            </a:r>
          </a:p>
          <a:p>
            <a:endParaRPr lang="en-US" sz="1600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757666C-E031-6E10-D1E1-EEA9B8A7C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8AC44C-2756-75F8-D1FE-64A197E5E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111904"/>
              </p:ext>
            </p:extLst>
          </p:nvPr>
        </p:nvGraphicFramePr>
        <p:xfrm>
          <a:off x="655357" y="3398904"/>
          <a:ext cx="1088128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283">
                  <a:extLst>
                    <a:ext uri="{9D8B030D-6E8A-4147-A177-3AD203B41FA5}">
                      <a16:colId xmlns:a16="http://schemas.microsoft.com/office/drawing/2014/main" val="518552229"/>
                    </a:ext>
                  </a:extLst>
                </a:gridCol>
                <a:gridCol w="1462894">
                  <a:extLst>
                    <a:ext uri="{9D8B030D-6E8A-4147-A177-3AD203B41FA5}">
                      <a16:colId xmlns:a16="http://schemas.microsoft.com/office/drawing/2014/main" val="596138815"/>
                    </a:ext>
                  </a:extLst>
                </a:gridCol>
                <a:gridCol w="2314912">
                  <a:extLst>
                    <a:ext uri="{9D8B030D-6E8A-4147-A177-3AD203B41FA5}">
                      <a16:colId xmlns:a16="http://schemas.microsoft.com/office/drawing/2014/main" val="3315800373"/>
                    </a:ext>
                  </a:extLst>
                </a:gridCol>
                <a:gridCol w="4073197">
                  <a:extLst>
                    <a:ext uri="{9D8B030D-6E8A-4147-A177-3AD203B41FA5}">
                      <a16:colId xmlns:a16="http://schemas.microsoft.com/office/drawing/2014/main" val="811731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31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EcoDataCenter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Sweden (Falun)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Mainly district heating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00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HIVE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Sweden (Boden)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Similar, but at higher temperatures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09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Rechenzentrum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Ostschweiz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Switzerland (</a:t>
                      </a:r>
                      <a:r>
                        <a:rPr lang="en-US" sz="1600" dirty="0" err="1"/>
                        <a:t>Gais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Heats cheese factory w/ heat pumps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04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WAR3M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HR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Sweden (</a:t>
                      </a:r>
                      <a:r>
                        <a:rPr lang="en-US" sz="1600" dirty="0" err="1"/>
                        <a:t>Frövi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Greenhouses, fish tanks,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00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Bytes2Heat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Academic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Germany (Stuttgart)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Focuses on uses for the German 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RISE SICS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Academic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Sweden (</a:t>
                      </a:r>
                      <a:r>
                        <a:rPr lang="en-US" sz="1600" dirty="0" err="1"/>
                        <a:t>Luleå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Focuses on uses for the Swedish 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78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8854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2E09C39981B54BB830E1F081C86A25" ma:contentTypeVersion="11" ma:contentTypeDescription="Create a new document." ma:contentTypeScope="" ma:versionID="234c582f117e5772f7c0b054bee36c91">
  <xsd:schema xmlns:xsd="http://www.w3.org/2001/XMLSchema" xmlns:xs="http://www.w3.org/2001/XMLSchema" xmlns:p="http://schemas.microsoft.com/office/2006/metadata/properties" xmlns:ns1="http://schemas.microsoft.com/sharepoint/v3" xmlns:ns2="54e8acca-44f9-4eed-b2ee-136d146ad825" targetNamespace="http://schemas.microsoft.com/office/2006/metadata/properties" ma:root="true" ma:fieldsID="ee46b74fbf6ddcf72274b00ef8da8331" ns1:_="" ns2:_="">
    <xsd:import namespace="http://schemas.microsoft.com/sharepoint/v3"/>
    <xsd:import namespace="54e8acca-44f9-4eed-b2ee-136d146ad8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e8acca-44f9-4eed-b2ee-136d146ad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9B8FA6-EBD8-436C-9C67-42C9C62691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ED4698-6678-4DEC-BFAD-B89264584E8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B4CCA46-C5C3-4613-B39B-F0E0A885A7F2}"/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5441</TotalTime>
  <Words>653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Facet</vt:lpstr>
      <vt:lpstr>Business Case Analysis (BCA): Questions and Discussion</vt:lpstr>
      <vt:lpstr>Agenda:</vt:lpstr>
      <vt:lpstr>Initial Assumptions and Questions</vt:lpstr>
      <vt:lpstr>Countries</vt:lpstr>
      <vt:lpstr>End User Type</vt:lpstr>
      <vt:lpstr>Heat Range Considerations</vt:lpstr>
      <vt:lpstr>Capex and Opex Considerations</vt:lpstr>
      <vt:lpstr>Next Steps to begin BCA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Petter Terenius</dc:creator>
  <cp:lastModifiedBy>Hannah Schuster</cp:lastModifiedBy>
  <cp:revision>34</cp:revision>
  <dcterms:created xsi:type="dcterms:W3CDTF">2025-06-04T16:12:38Z</dcterms:created>
  <dcterms:modified xsi:type="dcterms:W3CDTF">2025-10-15T23:02:12Z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0x010100142E09C39981B54BB830E1F081C86A25</vt:lpwstr>
  </property>
</Properties>
</file>