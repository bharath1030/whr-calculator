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4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4137-B39C-64CD-F888-CF39354BF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6B2E3-35C0-C5F6-DAB6-2A0B05507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522FA-22AC-BC39-3009-BB7198EB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4085C-E005-2719-D36B-E9EFE5B9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BD468-AD44-50E8-BE6E-38787A6E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82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ED1F-E71F-9EB8-F97E-5D49A13F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BB5FD-8C12-6F91-A919-96611646F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D115E-8E6B-617C-5187-7403A29B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DC1D-5B9F-BC5B-2B9C-78AF0D3D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AEBA9-2D5A-09FD-C77F-786BFAF2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19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F53D-FCFD-3567-6B9C-D96143E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DA7A1-9B8B-2640-9AF5-8C264AF12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8CC4F-7FE7-E90A-B8FD-9E8209C9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18630-02D9-2B04-CC18-C1601E8C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3E4BC-5A2F-867F-5758-521D2D36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182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46CD-266C-0411-8D65-BB2ACDD0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DB2B-D62B-13E2-ACAF-5ECFD7FC8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5E77F-41DF-34C2-CCD9-809E4DB58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9F6DD-FBEA-E956-1170-0004C803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C51D9-12C9-ED5F-C5AB-6379F5D1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788C9-5251-88EF-CF7F-1F35EC5A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1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928D-D713-E1BF-4A4A-3CB0CCE9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CDAD0-84A1-0EC2-9FE4-50706E1C6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4AA5B-9C5C-7D0B-906C-0C11B101D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A9C30-1B5F-3B70-7B95-A0E9DCD0D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A3247-DEEA-BF8F-3547-B01252AD1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C9B45-E26D-CE6C-DA8D-0E6A2AB9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F4427-C64C-D7C5-B97E-FA026E7F3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D464F-9478-AB9C-7052-367AB833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3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0251-DB0A-3E59-41AC-9C8FEC6B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E41B1-4599-FE6C-B76E-74EA5A2D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99391-37D6-B229-1C35-02D5E7EB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A3749-C7DF-42BD-6BD5-11089D92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7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7FAA4-60AB-6468-7BAA-36957A1E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3EA2A-F212-B365-FE6B-509B8BFD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9C322-ED35-7BD8-CDBE-DB04F79D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9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4CFC-1EAC-BA17-4260-EF70D032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EBE4E-E6B3-FA9F-BE7F-1F757F692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278FD-AAFB-1512-D93E-51583AFA5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6CA2E-5AC6-D7EC-EBE8-DDF354B8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BC276-8A01-C1DA-9EDF-24B967EC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502B8-8CA5-D1FC-AFD0-0B41B4BC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79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EE86-5F4A-3D4B-54E4-9C05523E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ADD07-9DE4-70AC-BEEB-15A871CA1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E2FD3-9B1D-5FA1-5C75-4D3EF33DF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10590-44DD-F0EE-6412-CB7CF20C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BDE3-B1AA-15D2-2AE7-5C9E33E9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E6557-4E1D-1E81-F12C-776BF105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5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05B1-D801-1B74-792D-4A973431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EF2A9-D20C-8ACA-A360-C95D0A8A7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DDF9-ED60-2D53-D426-BEB30F1F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473E3-09C2-B57D-9452-A7484C34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4AE6C-1AE2-E7F3-D22D-7BBD2F56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7862CB-9A06-99EF-793E-61DA1E333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565F0-338C-CC5F-E8A7-C3D63B5E8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31559-9202-45B0-174D-61FD3230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FF647-58F7-1754-FFD5-C7EAACBA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1FB1F-4EC1-D7A1-92C5-E6C08814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4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56A56-58EF-3DD4-C655-E1EB30CE7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872E2-5FFF-5C89-C584-FB3440528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44F1B-77BC-B63E-C8D2-18F458C17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A2EF3-7422-4E58-8F5D-558A17CAC990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CB829-9B8F-FF35-B830-BA8110A80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67ECB-C7B7-E131-02B0-CD4F94091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222A7D-B837-404B-8B4F-D46E4BCEB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2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ia.gov/electricity/monthly/epm_table_grapher.ph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7B37AF-511B-7304-E234-E0A36BE7AE51}"/>
              </a:ext>
            </a:extLst>
          </p:cNvPr>
          <p:cNvSpPr txBox="1"/>
          <p:nvPr/>
        </p:nvSpPr>
        <p:spPr>
          <a:xfrm>
            <a:off x="0" y="705676"/>
            <a:ext cx="12191999" cy="328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IN" sz="3600" b="1" kern="1400" spc="-5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F9ED5"/>
                  </a:solidFill>
                </a:uFill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Cloud Operations &amp; Innovation (“CO+ I”)</a:t>
            </a:r>
            <a:r>
              <a:rPr lang="en-IN" sz="3600" kern="100">
                <a:effectLst/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3600" kern="100">
              <a:effectLst/>
              <a:latin typeface="LM Roman 12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>
                <a:effectLst/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2400" kern="100">
              <a:effectLst/>
              <a:latin typeface="LM Roman 12" panose="00000500000000000000" pitchFamily="50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buNone/>
            </a:pPr>
            <a:r>
              <a:rPr lang="en-IN" sz="3200" b="1" kern="1400" spc="-50">
                <a:ln>
                  <a:noFill/>
                </a:ln>
                <a:solidFill>
                  <a:srgbClr val="0B769F"/>
                </a:solidFill>
                <a:effectLst/>
                <a:uFill>
                  <a:solidFill>
                    <a:srgbClr val="0F9ED5"/>
                  </a:solidFill>
                </a:uFill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A Feasibility Framework for Waste Heat from Data </a:t>
            </a:r>
            <a:r>
              <a:rPr lang="en-IN" sz="3200" b="1" kern="1400" spc="-50" err="1">
                <a:ln>
                  <a:noFill/>
                </a:ln>
                <a:solidFill>
                  <a:srgbClr val="0B769F"/>
                </a:solidFill>
                <a:effectLst/>
                <a:uFill>
                  <a:solidFill>
                    <a:srgbClr val="0F9ED5"/>
                  </a:solidFill>
                </a:uFill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Centers</a:t>
            </a:r>
            <a:r>
              <a:rPr lang="en-IN" sz="3200" b="1" kern="1400" spc="-50">
                <a:ln>
                  <a:noFill/>
                </a:ln>
                <a:solidFill>
                  <a:srgbClr val="0B769F"/>
                </a:solidFill>
                <a:effectLst/>
                <a:uFill>
                  <a:solidFill>
                    <a:srgbClr val="0F9ED5"/>
                  </a:solidFill>
                </a:uFill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 to a Water Capture System from </a:t>
            </a:r>
            <a:r>
              <a:rPr lang="en-IN" sz="3200" b="1" kern="1400" spc="-50" err="1">
                <a:ln>
                  <a:noFill/>
                </a:ln>
                <a:solidFill>
                  <a:srgbClr val="0B769F"/>
                </a:solidFill>
                <a:effectLst/>
                <a:uFill>
                  <a:solidFill>
                    <a:srgbClr val="0F9ED5"/>
                  </a:solidFill>
                </a:uFill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Uravu</a:t>
            </a:r>
            <a:r>
              <a:rPr lang="en-IN" sz="3200" b="1" kern="1400" spc="-50">
                <a:ln>
                  <a:noFill/>
                </a:ln>
                <a:solidFill>
                  <a:srgbClr val="0B769F"/>
                </a:solidFill>
                <a:effectLst/>
                <a:uFill>
                  <a:solidFill>
                    <a:srgbClr val="0F9ED5"/>
                  </a:solidFill>
                </a:uFill>
                <a:latin typeface="Cambria" panose="02040503050406030204" pitchFamily="18" charset="0"/>
                <a:ea typeface="Times New Roman" panose="02020603050405020304" pitchFamily="18" charset="0"/>
                <a:cs typeface="Segoe UI" panose="020B0502040204020203" pitchFamily="34" charset="0"/>
              </a:rPr>
              <a:t> Labs</a:t>
            </a:r>
            <a:endParaRPr lang="en-IN" sz="3200" b="1" kern="1400" spc="-50">
              <a:ln>
                <a:noFill/>
              </a:ln>
              <a:effectLst/>
              <a:uFill>
                <a:solidFill>
                  <a:srgbClr val="0F9ED5"/>
                </a:solidFill>
              </a:uFill>
              <a:latin typeface="LM Roman 12" panose="000005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>
                <a:effectLst/>
                <a:latin typeface="LM Roman 12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buNone/>
            </a:pPr>
            <a:r>
              <a:rPr lang="en-IN" sz="3200" b="1">
                <a:solidFill>
                  <a:srgbClr val="275317"/>
                </a:solidFill>
                <a:effectLst/>
                <a:latin typeface="LM Roman 12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Milestone-3  Preliminary Report</a:t>
            </a:r>
            <a:endParaRPr lang="en-IN" sz="3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D1B78-44F8-87A5-6C25-9AE814849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8" y="4565722"/>
            <a:ext cx="2520000" cy="1735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1">
            <a:extLst>
              <a:ext uri="{FF2B5EF4-FFF2-40B4-BE49-F238E27FC236}">
                <a16:creationId xmlns:a16="http://schemas.microsoft.com/office/drawing/2014/main" id="{4253F3C4-42AC-7C06-5A2B-B24D74A98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6051" y="4963576"/>
            <a:ext cx="3384000" cy="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38C5-939B-F38F-EC99-828061A6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 Configurations</a:t>
            </a:r>
            <a:endParaRPr lang="en-IN" b="1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D9055A-B404-4C68-AFB2-1C6F17153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126" y="1641526"/>
                <a:ext cx="11058832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Baseline 1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⇒</m:t>
                    </m:r>
                  </m:oMath>
                </a14:m>
                <a:r>
                  <a:rPr lang="en-IN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Air-cooled chiller (ACC)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No data center waste heat utilization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>
                    <a:latin typeface="Cambria" panose="02040503050406030204" pitchFamily="18" charset="0"/>
                    <a:ea typeface="Cambria" panose="02040503050406030204" pitchFamily="18" charset="0"/>
                  </a:rPr>
                  <a:t>Cooling is achieved through air-cooled chiller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high power consumption due to low COP values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aseline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2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⇒</m:t>
                    </m:r>
                  </m:oMath>
                </a14:m>
                <a:r>
                  <a:rPr lang="en-IN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Dry cooler (DC) + Air cooled chiller (ACC)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No data </a:t>
                </a:r>
                <a:r>
                  <a:rPr lang="en-IN" err="1">
                    <a:latin typeface="Cambria" panose="02040503050406030204" pitchFamily="18" charset="0"/>
                    <a:ea typeface="Cambria" panose="02040503050406030204" pitchFamily="18" charset="0"/>
                  </a:rPr>
                  <a:t>center</a:t>
                </a: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 waste heat utilization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Cooling is achieved through combination of DC and ACC based on local ambient condition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low power consumption than Baseline 1 due to free cooling </a:t>
                </a:r>
              </a:p>
              <a:p>
                <a:pPr lvl="1" algn="just">
                  <a:lnSpc>
                    <a:spcPct val="150000"/>
                  </a:lnSpc>
                </a:pPr>
                <a:endParaRPr lang="en-IN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D9055A-B404-4C68-AFB2-1C6F17153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126" y="1641526"/>
                <a:ext cx="11058832" cy="4351338"/>
              </a:xfrm>
              <a:blipFill>
                <a:blip r:embed="rId2"/>
                <a:stretch>
                  <a:fillRect l="-827" r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28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27F-355F-0E81-C85D-47209F5D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3BF7-96F8-0AEF-2339-03DD5FAF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 Configurations</a:t>
            </a:r>
            <a:endParaRPr lang="en-IN" b="1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B0AAC-F20C-1EBB-A1E3-B9B3DD5C44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27356"/>
                <a:ext cx="12192000" cy="5930644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sz="2000" b="1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Uravu-waste heat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⇒</m:t>
                    </m:r>
                  </m:oMath>
                </a14:m>
                <a:r>
                  <a:rPr lang="en-IN" sz="2000">
                    <a:latin typeface="Cambria" panose="02040503050406030204" pitchFamily="18" charset="0"/>
                    <a:ea typeface="Cambria" panose="02040503050406030204" pitchFamily="18" charset="0"/>
                  </a:rPr>
                  <a:t> Waste heat is utilized to </a:t>
                </a:r>
                <a:r>
                  <a:rPr lang="en-IN" sz="20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drive the vapor generation process </a:t>
                </a:r>
                <a:r>
                  <a:rPr lang="en-IN" sz="2000">
                    <a:latin typeface="Cambria" panose="02040503050406030204" pitchFamily="18" charset="0"/>
                    <a:ea typeface="Cambria" panose="02040503050406030204" pitchFamily="18" charset="0"/>
                  </a:rPr>
                  <a:t>for the given Uravu uptime.</a:t>
                </a:r>
              </a:p>
              <a:p>
                <a:pPr lvl="1" algn="just">
                  <a:lnSpc>
                    <a:spcPct val="170000"/>
                  </a:lnSpc>
                </a:pP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Unblended system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Chiller cost is not considered</a:t>
                </a:r>
              </a:p>
              <a:p>
                <a:pPr lvl="1" algn="just">
                  <a:lnSpc>
                    <a:spcPct val="170000"/>
                  </a:lnSpc>
                </a:pP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Blended system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1600" err="1"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-waste heat + ACC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added chiller capex and </a:t>
                </a:r>
                <a:r>
                  <a:rPr lang="en-IN" sz="1600" err="1">
                    <a:latin typeface="Cambria" panose="02040503050406030204" pitchFamily="18" charset="0"/>
                    <a:ea typeface="Cambria" panose="02040503050406030204" pitchFamily="18" charset="0"/>
                  </a:rPr>
                  <a:t>opex</a:t>
                </a:r>
                <a:endParaRPr lang="en-IN" sz="16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 algn="just">
                  <a:lnSpc>
                    <a:spcPct val="170000"/>
                  </a:lnSpc>
                </a:pP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</a:t>
                </a:r>
                <a:r>
                  <a:rPr lang="en-IN" sz="1600" b="1" err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-uptime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In case of further cooling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air- cooled chiller (ACC)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reduces the chiller load (&lt;&lt; 1 MW) </a:t>
                </a:r>
              </a:p>
              <a:p>
                <a:pPr lvl="2" algn="just">
                  <a:lnSpc>
                    <a:spcPct val="170000"/>
                  </a:lnSpc>
                </a:pP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</a:t>
                </a:r>
                <a:r>
                  <a:rPr lang="en-IN" sz="1600" b="1" err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-downtime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Cooling is provided through ACC only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chiller load = 1 MW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IN" sz="2000" b="1" err="1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2000" b="1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-electric</a:t>
                </a:r>
                <a:r>
                  <a:rPr lang="en-IN" sz="200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⇒</m:t>
                    </m:r>
                  </m:oMath>
                </a14:m>
                <a:r>
                  <a:rPr lang="en-IN" sz="200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lvl="1" algn="just">
                  <a:lnSpc>
                    <a:spcPct val="170000"/>
                  </a:lnSpc>
                </a:pP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Waste heat is utilized for </a:t>
                </a: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partial preheating </a:t>
                </a: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of the liquid desiccant.</a:t>
                </a:r>
              </a:p>
              <a:p>
                <a:pPr lvl="1" algn="just">
                  <a:lnSpc>
                    <a:spcPct val="170000"/>
                  </a:lnSpc>
                </a:pP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No </a:t>
                </a:r>
                <a:r>
                  <a:rPr lang="en-IN" sz="1600" b="1" err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downtime </a:t>
                </a: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but higher electricity consumption</a:t>
                </a:r>
                <a:endParaRPr lang="en-IN" sz="1600" b="1">
                  <a:solidFill>
                    <a:schemeClr val="accent4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 algn="just">
                  <a:lnSpc>
                    <a:spcPct val="170000"/>
                  </a:lnSpc>
                </a:pP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Remaining cooling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Chiller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1600" b="1">
                    <a:solidFill>
                      <a:schemeClr val="accent4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reduces the chiller load (&lt;&lt; 1 MW)</a:t>
                </a:r>
                <a:r>
                  <a:rPr lang="en-IN" sz="160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lvl="1" algn="just">
                  <a:lnSpc>
                    <a:spcPct val="170000"/>
                  </a:lnSpc>
                </a:pPr>
                <a:endParaRPr lang="en-IN" sz="20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lnSpc>
                    <a:spcPct val="170000"/>
                  </a:lnSpc>
                  <a:buNone/>
                </a:pPr>
                <a:endParaRPr lang="en-IN" sz="20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6B0AAC-F20C-1EBB-A1E3-B9B3DD5C4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27356"/>
                <a:ext cx="12192000" cy="5930644"/>
              </a:xfrm>
              <a:blipFill>
                <a:blip r:embed="rId2"/>
                <a:stretch>
                  <a:fillRect l="-450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48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178A40-95F3-E061-0ABA-5A1FBFE82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248664"/>
              </p:ext>
            </p:extLst>
          </p:nvPr>
        </p:nvGraphicFramePr>
        <p:xfrm>
          <a:off x="137651" y="308544"/>
          <a:ext cx="11916697" cy="5835396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6312310">
                  <a:extLst>
                    <a:ext uri="{9D8B030D-6E8A-4147-A177-3AD203B41FA5}">
                      <a16:colId xmlns:a16="http://schemas.microsoft.com/office/drawing/2014/main" val="195329573"/>
                    </a:ext>
                  </a:extLst>
                </a:gridCol>
                <a:gridCol w="4090220">
                  <a:extLst>
                    <a:ext uri="{9D8B030D-6E8A-4147-A177-3AD203B41FA5}">
                      <a16:colId xmlns:a16="http://schemas.microsoft.com/office/drawing/2014/main" val="4113925147"/>
                    </a:ext>
                  </a:extLst>
                </a:gridCol>
                <a:gridCol w="1514167">
                  <a:extLst>
                    <a:ext uri="{9D8B030D-6E8A-4147-A177-3AD203B41FA5}">
                      <a16:colId xmlns:a16="http://schemas.microsoft.com/office/drawing/2014/main" val="3993614183"/>
                    </a:ext>
                  </a:extLst>
                </a:gridCol>
              </a:tblGrid>
              <a:tr h="4030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Parameters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Value/source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Unit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3615409605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Project lifetime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Years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extLst>
                  <a:ext uri="{0D108BD9-81ED-4DB2-BD59-A6C34878D82A}">
                    <a16:rowId xmlns:a16="http://schemas.microsoft.com/office/drawing/2014/main" val="1372141673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Electricity cost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~0.1–0.2 (</a:t>
                      </a:r>
                      <a:r>
                        <a:rPr lang="en-IN" sz="2600" u="sng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hlinkClick r:id="rId2"/>
                        </a:rPr>
                        <a:t>source</a:t>
                      </a: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$/kWh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266320147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CAPEX (Uravu-waste heat)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~500,000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$/MW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1193223460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CAPEX (Uravu-electric)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~650,000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$/MW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1046722488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CAPEX (Air-cooled chiller)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~350,000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$/MW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3682756835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CAPEX (Dry-cooler)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~100,000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$/MW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2339244431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Maintenance rate (Uravu unit)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~2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295181650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Maintenance rate (Air-cooled chiller)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~3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1411550479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Maintenance rate (Dry cooler)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~2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1296868116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Power consumption (</a:t>
                      </a:r>
                      <a:r>
                        <a:rPr lang="en-US" sz="2600" kern="10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Uravu</a:t>
                      </a: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-waste heat)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~50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3299665657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Power consumption (</a:t>
                      </a:r>
                      <a:r>
                        <a:rPr lang="en-US" sz="2600" kern="10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Uravu</a:t>
                      </a: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-electric)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~200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2478826013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Power consumption (ACC)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~333.33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2268820239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Power consumption (DC)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~45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6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kW</a:t>
                      </a:r>
                      <a:endParaRPr lang="en-IN" sz="26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60" marR="118460" marT="0" marB="0" anchor="ctr"/>
                </a:tc>
                <a:extLst>
                  <a:ext uri="{0D108BD9-81ED-4DB2-BD59-A6C34878D82A}">
                    <a16:rowId xmlns:a16="http://schemas.microsoft.com/office/drawing/2014/main" val="177996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63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10F7F-2164-57BD-59C3-5EB3F34D6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1E8A-C574-2FEC-45C9-741C1549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8374" cy="1325563"/>
          </a:xfrm>
        </p:spPr>
        <p:txBody>
          <a:bodyPr/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Levelized Cost of Cooling (LCOC) - $/MWh</a:t>
            </a:r>
            <a:endParaRPr lang="en-IN" b="1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D90E2-0DFF-808F-E091-59AA49297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7652" y="1305303"/>
            <a:ext cx="10156723" cy="54101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2F1AB7-AB79-48AB-88A8-38797116352B}"/>
                  </a:ext>
                </a:extLst>
              </p:cNvPr>
              <p:cNvSpPr txBox="1"/>
              <p:nvPr/>
            </p:nvSpPr>
            <p:spPr>
              <a:xfrm>
                <a:off x="7737987" y="3262035"/>
                <a:ext cx="4168877" cy="336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For Madrid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30℃</m:t>
                    </m:r>
                  </m:oMath>
                </a14:m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Uravu-waste heat + ACC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≈</m:t>
                    </m:r>
                  </m:oMath>
                </a14:m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Uravu-electric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At high-temperature waste heat for all cities: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-waste heat (unblended) &lt;&lt; other configurations </a:t>
                </a: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due to high uptime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2F1AB7-AB79-48AB-88A8-387971163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987" y="3262035"/>
                <a:ext cx="4168877" cy="3364960"/>
              </a:xfrm>
              <a:prstGeom prst="rect">
                <a:avLst/>
              </a:prstGeom>
              <a:blipFill>
                <a:blip r:embed="rId3"/>
                <a:stretch>
                  <a:fillRect l="-1170" r="-1316" b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6208C03-BE31-BAE1-EF75-946714FA4980}"/>
              </a:ext>
            </a:extLst>
          </p:cNvPr>
          <p:cNvSpPr txBox="1"/>
          <p:nvPr/>
        </p:nvSpPr>
        <p:spPr>
          <a:xfrm>
            <a:off x="3050347" y="956231"/>
            <a:ext cx="195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European  Union</a:t>
            </a:r>
            <a:endParaRPr lang="en-IN" b="1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784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9BFC-4637-605E-CBEE-9B6E2120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54523E-5806-B6B0-782D-23352245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0251" y="924640"/>
            <a:ext cx="10156723" cy="5367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21DFDB-1084-2CC1-11EF-D2BE323020D2}"/>
                  </a:ext>
                </a:extLst>
              </p:cNvPr>
              <p:cNvSpPr txBox="1"/>
              <p:nvPr/>
            </p:nvSpPr>
            <p:spPr>
              <a:xfrm>
                <a:off x="7659329" y="3309699"/>
                <a:ext cx="4463845" cy="2533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For Phoenix and Houston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30℃</m:t>
                    </m:r>
                  </m:oMath>
                </a14:m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-waste heat + ACC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≈</m:t>
                    </m:r>
                  </m:oMath>
                </a14:m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Uravu-electric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At high-temperature waste heat for all cities: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-waste heat (unblended) &lt;&lt; other configurations </a:t>
                </a:r>
                <a:r>
                  <a:rPr lang="en-IN">
                    <a:latin typeface="Cambria" panose="02040503050406030204" pitchFamily="18" charset="0"/>
                    <a:ea typeface="Cambria" panose="02040503050406030204" pitchFamily="18" charset="0"/>
                  </a:rPr>
                  <a:t>due to high uptime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21DFDB-1084-2CC1-11EF-D2BE32302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329" y="3309699"/>
                <a:ext cx="4463845" cy="2533963"/>
              </a:xfrm>
              <a:prstGeom prst="rect">
                <a:avLst/>
              </a:prstGeom>
              <a:blipFill>
                <a:blip r:embed="rId3"/>
                <a:stretch>
                  <a:fillRect l="-1091" r="-1091" b="-2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9D0BBDA-DEA8-7337-12D4-303671685FA8}"/>
              </a:ext>
            </a:extLst>
          </p:cNvPr>
          <p:cNvSpPr txBox="1"/>
          <p:nvPr/>
        </p:nvSpPr>
        <p:spPr>
          <a:xfrm>
            <a:off x="2912695" y="486468"/>
            <a:ext cx="1581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United States</a:t>
            </a:r>
            <a:endParaRPr lang="en-IN" b="1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34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EDD3-FE88-25A7-68B3-9EE132C52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1540-07F9-1162-8535-8A45F1AD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8374" cy="1325563"/>
          </a:xfrm>
        </p:spPr>
        <p:txBody>
          <a:bodyPr/>
          <a:lstStyle/>
          <a:p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takeaways</a:t>
            </a:r>
            <a:endParaRPr lang="en-IN" b="1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06AD65-C533-EC1F-C51E-626CB26CD264}"/>
                  </a:ext>
                </a:extLst>
              </p:cNvPr>
              <p:cNvSpPr txBox="1"/>
              <p:nvPr/>
            </p:nvSpPr>
            <p:spPr>
              <a:xfrm>
                <a:off x="253070" y="1223459"/>
                <a:ext cx="11024530" cy="5446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For regions with high ambient temperature (Madrid, Phoenix and Houston):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Preferable to use </a:t>
                </a:r>
                <a:r>
                  <a:rPr lang="en-IN" sz="2200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-electric</a:t>
                </a: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 system at low-temperature waste heat (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𝟑𝟎</m:t>
                    </m:r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𝟑𝟓</m:t>
                    </m:r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℃</m:t>
                    </m:r>
                  </m:oMath>
                </a14:m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  <a:p>
                <a:pPr marL="742950" lvl="1" indent="-285750" algn="ju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At 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waste heat &gt; 35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℃</m:t>
                    </m:r>
                  </m:oMath>
                </a14:m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sz="2200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-waste heat (unblended) and </a:t>
                </a:r>
                <a:r>
                  <a:rPr lang="en-IN" sz="2200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-waste heat + ACC</a:t>
                </a: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 system is 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more suitable </a:t>
                </a: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options with approximately same LCOC 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For colder regions:</a:t>
                </a:r>
              </a:p>
              <a:p>
                <a:pPr marL="742950" lvl="1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200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-waste heat (unblended) and </a:t>
                </a:r>
                <a:r>
                  <a:rPr lang="en-IN" sz="2200" b="1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Uravu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-waste heat + ACC</a:t>
                </a: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 system is 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more preferable </a:t>
                </a: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at all temperatures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DC + ACC </a:t>
                </a: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system shows 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lower LCOC</a:t>
                </a:r>
                <a:r>
                  <a:rPr lang="en-IN" sz="2200">
                    <a:latin typeface="Cambria" panose="02040503050406030204" pitchFamily="18" charset="0"/>
                    <a:ea typeface="Cambria" panose="02040503050406030204" pitchFamily="18" charset="0"/>
                  </a:rPr>
                  <a:t> due to free cooling but has </a:t>
                </a:r>
                <a:r>
                  <a:rPr lang="en-IN" sz="2200" b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no waste heat utilization	</a:t>
                </a:r>
                <a:endParaRPr lang="en-IN" sz="22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06AD65-C533-EC1F-C51E-626CB26CD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70" y="1223459"/>
                <a:ext cx="11024530" cy="5446427"/>
              </a:xfrm>
              <a:prstGeom prst="rect">
                <a:avLst/>
              </a:prstGeom>
              <a:blipFill>
                <a:blip r:embed="rId2"/>
                <a:stretch>
                  <a:fillRect l="-664" r="-719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62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FB09FCB658C9458FE74BAA909ACD6E" ma:contentTypeVersion="10" ma:contentTypeDescription="Create a new document." ma:contentTypeScope="" ma:versionID="911da65ac498d2119f979f4a923044a8">
  <xsd:schema xmlns:xsd="http://www.w3.org/2001/XMLSchema" xmlns:xs="http://www.w3.org/2001/XMLSchema" xmlns:p="http://schemas.microsoft.com/office/2006/metadata/properties" xmlns:ns1="http://schemas.microsoft.com/sharepoint/v3" xmlns:ns2="50009570-44a4-4bd7-a7e3-050cbebe9cee" targetNamespace="http://schemas.microsoft.com/office/2006/metadata/properties" ma:root="true" ma:fieldsID="3d9ba0f74f668618d12814d89b756f60" ns1:_="" ns2:_="">
    <xsd:import namespace="http://schemas.microsoft.com/sharepoint/v3"/>
    <xsd:import namespace="50009570-44a4-4bd7-a7e3-050cbebe9c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09570-44a4-4bd7-a7e3-050cbebe9c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CE6CE6-893B-470E-871D-EDF389C91E5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7788FFB-7082-453A-9C1A-D5F797B59F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E86F91-ABF6-4358-86AE-8585ADB97A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0009570-44a4-4bd7-a7e3-050cbebe9c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System Configurations</vt:lpstr>
      <vt:lpstr>System Configurations</vt:lpstr>
      <vt:lpstr>PowerPoint Presentation</vt:lpstr>
      <vt:lpstr>Levelized Cost of Cooling (LCOC) - $/MWh</vt:lpstr>
      <vt:lpstr>PowerPoint Presentation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Srivastava</dc:creator>
  <cp:revision>3</cp:revision>
  <dcterms:created xsi:type="dcterms:W3CDTF">2025-11-17T05:43:31Z</dcterms:created>
  <dcterms:modified xsi:type="dcterms:W3CDTF">2026-01-14T17:43:48Z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0x01010015FB09FCB658C9458FE74BAA909ACD6E</vt:lpwstr>
  </property>
</Properties>
</file>